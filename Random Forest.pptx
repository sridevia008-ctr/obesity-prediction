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ambria Bold" charset="1" panose="02040803050406030204"/>
      <p:regular r:id="rId15"/>
    </p:embeddedFont>
    <p:embeddedFont>
      <p:font typeface="Calibri (MS)" charset="1" panose="020F0502020204030204"/>
      <p:regular r:id="rId16"/>
    </p:embeddedFont>
    <p:embeddedFont>
      <p:font typeface="Calibri (MS) Bold" charset="1" panose="020F070203040403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3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80160" y="2743200"/>
            <a:ext cx="15727680" cy="1828800"/>
            <a:chOff x="0" y="0"/>
            <a:chExt cx="20970240" cy="2438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970239" cy="2438400"/>
            </a:xfrm>
            <a:custGeom>
              <a:avLst/>
              <a:gdLst/>
              <a:ahLst/>
              <a:cxnLst/>
              <a:rect r="r" b="b" t="t" l="l"/>
              <a:pathLst>
                <a:path h="24384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17571" r="0" b="-11757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097024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0559"/>
                </a:lnSpc>
              </a:pPr>
              <a:r>
                <a:rPr lang="en-US" sz="8799" b="true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Obesity Level Prediction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0160" y="4663440"/>
            <a:ext cx="15727680" cy="914400"/>
            <a:chOff x="0" y="0"/>
            <a:chExt cx="2097024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970239" cy="1219200"/>
            </a:xfrm>
            <a:custGeom>
              <a:avLst/>
              <a:gdLst/>
              <a:ahLst/>
              <a:cxnLst/>
              <a:rect r="r" b="b" t="t" l="l"/>
              <a:pathLst>
                <a:path h="121920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5142" r="0" b="-28514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76200"/>
              <a:ext cx="20970240" cy="1295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F29E4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My First ML Project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0160" y="7132320"/>
            <a:ext cx="15727680" cy="822960"/>
            <a:chOff x="0" y="0"/>
            <a:chExt cx="20970240" cy="1097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970239" cy="1097280"/>
            </a:xfrm>
            <a:custGeom>
              <a:avLst/>
              <a:gdLst/>
              <a:ahLst/>
              <a:cxnLst/>
              <a:rect r="r" b="b" t="t" l="l"/>
              <a:pathLst>
                <a:path h="109728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380" r="0" b="-32238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2097024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Presented by Sridevi 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F3D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Dataset Source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97280" y="2503170"/>
            <a:ext cx="8778240" cy="627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1B2B2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UCI Machine Learning Repository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B2B2B"/>
                </a:solidFill>
                <a:latin typeface="Calibri (MS)"/>
                <a:ea typeface="Calibri (MS)"/>
                <a:cs typeface="Calibri (MS)"/>
                <a:sym typeface="Calibri (MS)"/>
              </a:rPr>
              <a:t>Estimation of obesity levels based on eating habits and physical condition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B2B2B"/>
                </a:solidFill>
                <a:latin typeface="Calibri (MS)"/>
                <a:ea typeface="Calibri (MS)"/>
                <a:cs typeface="Calibri (MS)"/>
                <a:sym typeface="Calibri (MS)"/>
              </a:rPr>
              <a:t>File used: ObesityDataSet.csv</a:t>
            </a:r>
          </a:p>
          <a:p>
            <a:pPr algn="l">
              <a:lnSpc>
                <a:spcPts val="3840"/>
              </a:lnSpc>
            </a:pPr>
            <a:r>
              <a:rPr lang="en-US" sz="3200">
                <a:solidFill>
                  <a:srgbClr val="1B2B2B"/>
                </a:solidFill>
                <a:latin typeface="Calibri (MS)"/>
                <a:ea typeface="Calibri (MS)"/>
                <a:cs typeface="Calibri (MS)"/>
                <a:sym typeface="Calibri (MS)"/>
              </a:rPr>
              <a:t>People from Mexico, Peru and Colombia, described by eating habits, physical activity and body measurements.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0777223" y="2547623"/>
            <a:ext cx="6426203" cy="1854203"/>
            <a:chOff x="0" y="0"/>
            <a:chExt cx="8568271" cy="247227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568309" cy="2472309"/>
            </a:xfrm>
            <a:custGeom>
              <a:avLst/>
              <a:gdLst/>
              <a:ahLst/>
              <a:cxnLst/>
              <a:rect r="r" b="b" t="t" l="l"/>
              <a:pathLst>
                <a:path h="2472309" w="8568309">
                  <a:moveTo>
                    <a:pt x="0" y="296672"/>
                  </a:moveTo>
                  <a:cubicBezTo>
                    <a:pt x="0" y="132842"/>
                    <a:pt x="132842" y="0"/>
                    <a:pt x="296672" y="0"/>
                  </a:cubicBezTo>
                  <a:lnTo>
                    <a:pt x="8271637" y="0"/>
                  </a:lnTo>
                  <a:cubicBezTo>
                    <a:pt x="8435467" y="0"/>
                    <a:pt x="8568309" y="132842"/>
                    <a:pt x="8568309" y="296672"/>
                  </a:cubicBezTo>
                  <a:lnTo>
                    <a:pt x="8568309" y="2175637"/>
                  </a:lnTo>
                  <a:cubicBezTo>
                    <a:pt x="8568309" y="2339467"/>
                    <a:pt x="8435467" y="2472309"/>
                    <a:pt x="8271637" y="2472309"/>
                  </a:cubicBezTo>
                  <a:lnTo>
                    <a:pt x="296672" y="2472309"/>
                  </a:lnTo>
                  <a:cubicBezTo>
                    <a:pt x="132842" y="2472309"/>
                    <a:pt x="0" y="2339467"/>
                    <a:pt x="0" y="2175637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155680" y="2560320"/>
            <a:ext cx="2743200" cy="1828800"/>
            <a:chOff x="0" y="0"/>
            <a:chExt cx="365760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657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3657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1F6F6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2,111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898880" y="2560320"/>
            <a:ext cx="3108960" cy="1828800"/>
            <a:chOff x="0" y="0"/>
            <a:chExt cx="4145280" cy="24384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145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414528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records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777223" y="4742183"/>
            <a:ext cx="6426203" cy="1854203"/>
            <a:chOff x="0" y="0"/>
            <a:chExt cx="8568271" cy="24722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568309" cy="2472309"/>
            </a:xfrm>
            <a:custGeom>
              <a:avLst/>
              <a:gdLst/>
              <a:ahLst/>
              <a:cxnLst/>
              <a:rect r="r" b="b" t="t" l="l"/>
              <a:pathLst>
                <a:path h="2472309" w="8568309">
                  <a:moveTo>
                    <a:pt x="0" y="296672"/>
                  </a:moveTo>
                  <a:cubicBezTo>
                    <a:pt x="0" y="132842"/>
                    <a:pt x="132842" y="0"/>
                    <a:pt x="296672" y="0"/>
                  </a:cubicBezTo>
                  <a:lnTo>
                    <a:pt x="8271637" y="0"/>
                  </a:lnTo>
                  <a:cubicBezTo>
                    <a:pt x="8435467" y="0"/>
                    <a:pt x="8568309" y="132842"/>
                    <a:pt x="8568309" y="296672"/>
                  </a:cubicBezTo>
                  <a:lnTo>
                    <a:pt x="8568309" y="2175637"/>
                  </a:lnTo>
                  <a:cubicBezTo>
                    <a:pt x="8568309" y="2339467"/>
                    <a:pt x="8435467" y="2472309"/>
                    <a:pt x="8271637" y="2472309"/>
                  </a:cubicBezTo>
                  <a:lnTo>
                    <a:pt x="296672" y="2472309"/>
                  </a:lnTo>
                  <a:cubicBezTo>
                    <a:pt x="132842" y="2472309"/>
                    <a:pt x="0" y="2339467"/>
                    <a:pt x="0" y="2175637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11155680" y="4754880"/>
            <a:ext cx="2743200" cy="1828800"/>
            <a:chOff x="0" y="0"/>
            <a:chExt cx="3657600" cy="2438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657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3657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1F6F6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17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898880" y="4754880"/>
            <a:ext cx="3108960" cy="1828800"/>
            <a:chOff x="0" y="0"/>
            <a:chExt cx="4145280" cy="2438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145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414528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columns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777223" y="6936743"/>
            <a:ext cx="6426203" cy="1854203"/>
            <a:chOff x="0" y="0"/>
            <a:chExt cx="8568271" cy="247227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68309" cy="2472309"/>
            </a:xfrm>
            <a:custGeom>
              <a:avLst/>
              <a:gdLst/>
              <a:ahLst/>
              <a:cxnLst/>
              <a:rect r="r" b="b" t="t" l="l"/>
              <a:pathLst>
                <a:path h="2472309" w="8568309">
                  <a:moveTo>
                    <a:pt x="0" y="296672"/>
                  </a:moveTo>
                  <a:cubicBezTo>
                    <a:pt x="0" y="132842"/>
                    <a:pt x="132842" y="0"/>
                    <a:pt x="296672" y="0"/>
                  </a:cubicBezTo>
                  <a:lnTo>
                    <a:pt x="8271637" y="0"/>
                  </a:lnTo>
                  <a:cubicBezTo>
                    <a:pt x="8435467" y="0"/>
                    <a:pt x="8568309" y="132842"/>
                    <a:pt x="8568309" y="296672"/>
                  </a:cubicBezTo>
                  <a:lnTo>
                    <a:pt x="8568309" y="2175637"/>
                  </a:lnTo>
                  <a:cubicBezTo>
                    <a:pt x="8568309" y="2339467"/>
                    <a:pt x="8435467" y="2472309"/>
                    <a:pt x="8271637" y="2472309"/>
                  </a:cubicBezTo>
                  <a:lnTo>
                    <a:pt x="296672" y="2472309"/>
                  </a:lnTo>
                  <a:cubicBezTo>
                    <a:pt x="132842" y="2472309"/>
                    <a:pt x="0" y="2339467"/>
                    <a:pt x="0" y="2175637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11155680" y="6949440"/>
            <a:ext cx="2743200" cy="1828800"/>
            <a:chOff x="0" y="0"/>
            <a:chExt cx="3657600" cy="2438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57600" cy="2438400"/>
            </a:xfrm>
            <a:custGeom>
              <a:avLst/>
              <a:gdLst/>
              <a:ahLst/>
              <a:cxnLst/>
              <a:rect r="r" b="b" t="t" l="l"/>
              <a:pathLst>
                <a:path h="243840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5535" t="0" r="-35535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365760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1F6F6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7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898880" y="6949440"/>
            <a:ext cx="3108960" cy="1828800"/>
            <a:chOff x="0" y="0"/>
            <a:chExt cx="4145280" cy="24384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45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414528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weight classes (target)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F3D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EDA Process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84583" y="2547623"/>
            <a:ext cx="5146043" cy="3134363"/>
            <a:chOff x="0" y="0"/>
            <a:chExt cx="6861391" cy="41791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61428" cy="4179189"/>
            </a:xfrm>
            <a:custGeom>
              <a:avLst/>
              <a:gdLst/>
              <a:ahLst/>
              <a:cxnLst/>
              <a:rect r="r" b="b" t="t" l="l"/>
              <a:pathLst>
                <a:path h="4179189" w="6861428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566408" y="0"/>
                  </a:lnTo>
                  <a:cubicBezTo>
                    <a:pt x="6729349" y="0"/>
                    <a:pt x="6861428" y="132080"/>
                    <a:pt x="6861428" y="295021"/>
                  </a:cubicBezTo>
                  <a:lnTo>
                    <a:pt x="6861428" y="3884168"/>
                  </a:lnTo>
                  <a:cubicBezTo>
                    <a:pt x="6861428" y="4047109"/>
                    <a:pt x="6729349" y="4179189"/>
                    <a:pt x="656640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50343" y="2913383"/>
            <a:ext cx="848363" cy="848363"/>
            <a:chOff x="0" y="0"/>
            <a:chExt cx="1131151" cy="11311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463040" y="2926080"/>
            <a:ext cx="822960" cy="822960"/>
            <a:chOff x="0" y="0"/>
            <a:chExt cx="10972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468880" y="2926080"/>
            <a:ext cx="3474720" cy="822960"/>
            <a:chOff x="0" y="0"/>
            <a:chExt cx="463296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632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70" r="0" b="-3227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46329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Inspect data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463040" y="3956685"/>
            <a:ext cx="4389120" cy="152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2B2B"/>
                </a:solidFill>
                <a:latin typeface="Calibri (MS)"/>
                <a:ea typeface="Calibri (MS)"/>
                <a:cs typeface="Calibri (MS)"/>
                <a:sym typeface="Calibri (MS)"/>
              </a:rPr>
              <a:t>head, tail, info, shape, columns, describe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570983" y="2547623"/>
            <a:ext cx="5146043" cy="3134363"/>
            <a:chOff x="0" y="0"/>
            <a:chExt cx="6861391" cy="417915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861428" cy="4179189"/>
            </a:xfrm>
            <a:custGeom>
              <a:avLst/>
              <a:gdLst/>
              <a:ahLst/>
              <a:cxnLst/>
              <a:rect r="r" b="b" t="t" l="l"/>
              <a:pathLst>
                <a:path h="4179189" w="6861428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566408" y="0"/>
                  </a:lnTo>
                  <a:cubicBezTo>
                    <a:pt x="6729349" y="0"/>
                    <a:pt x="6861428" y="132080"/>
                    <a:pt x="6861428" y="295021"/>
                  </a:cubicBezTo>
                  <a:lnTo>
                    <a:pt x="6861428" y="3884168"/>
                  </a:lnTo>
                  <a:cubicBezTo>
                    <a:pt x="6861428" y="4047109"/>
                    <a:pt x="6729349" y="4179189"/>
                    <a:pt x="656640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6936743" y="2913383"/>
            <a:ext cx="848363" cy="848363"/>
            <a:chOff x="0" y="0"/>
            <a:chExt cx="1131151" cy="113115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6949440" y="2926080"/>
            <a:ext cx="822960" cy="822960"/>
            <a:chOff x="0" y="0"/>
            <a:chExt cx="1097280" cy="10972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955280" y="2926080"/>
            <a:ext cx="3474720" cy="822960"/>
            <a:chOff x="0" y="0"/>
            <a:chExt cx="4632960" cy="10972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632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70" r="0" b="-3227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46329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Missing values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949440" y="3956685"/>
            <a:ext cx="4389120" cy="152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2B2B"/>
                </a:solidFill>
                <a:latin typeface="Calibri (MS)"/>
                <a:ea typeface="Calibri (MS)"/>
                <a:cs typeface="Calibri (MS)"/>
                <a:sym typeface="Calibri (MS)"/>
              </a:rPr>
              <a:t>isnull / isna: no missing values found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2057383" y="2547623"/>
            <a:ext cx="5146043" cy="3134363"/>
            <a:chOff x="0" y="0"/>
            <a:chExt cx="6861391" cy="41791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861428" cy="4179189"/>
            </a:xfrm>
            <a:custGeom>
              <a:avLst/>
              <a:gdLst/>
              <a:ahLst/>
              <a:cxnLst/>
              <a:rect r="r" b="b" t="t" l="l"/>
              <a:pathLst>
                <a:path h="4179189" w="6861428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566408" y="0"/>
                  </a:lnTo>
                  <a:cubicBezTo>
                    <a:pt x="6729349" y="0"/>
                    <a:pt x="6861428" y="132080"/>
                    <a:pt x="6861428" y="295021"/>
                  </a:cubicBezTo>
                  <a:lnTo>
                    <a:pt x="6861428" y="3884168"/>
                  </a:lnTo>
                  <a:cubicBezTo>
                    <a:pt x="6861428" y="4047109"/>
                    <a:pt x="6729349" y="4179189"/>
                    <a:pt x="656640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2423143" y="2913383"/>
            <a:ext cx="848363" cy="848363"/>
            <a:chOff x="0" y="0"/>
            <a:chExt cx="1131151" cy="113115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435840" y="2926080"/>
            <a:ext cx="822960" cy="822960"/>
            <a:chOff x="0" y="0"/>
            <a:chExt cx="109728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3441680" y="2926080"/>
            <a:ext cx="3474720" cy="822960"/>
            <a:chOff x="0" y="0"/>
            <a:chExt cx="4632960" cy="1097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632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70" r="0" b="-3227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46329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Duplicates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2435840" y="3956685"/>
            <a:ext cx="4389120" cy="152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2B2B"/>
                </a:solidFill>
                <a:latin typeface="Calibri (MS)"/>
                <a:ea typeface="Calibri (MS)"/>
                <a:cs typeface="Calibri (MS)"/>
                <a:sym typeface="Calibri (MS)"/>
              </a:rPr>
              <a:t>24 duplicate rows found and dropped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084583" y="6022343"/>
            <a:ext cx="5146043" cy="3134363"/>
            <a:chOff x="0" y="0"/>
            <a:chExt cx="6861391" cy="41791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61428" cy="4179189"/>
            </a:xfrm>
            <a:custGeom>
              <a:avLst/>
              <a:gdLst/>
              <a:ahLst/>
              <a:cxnLst/>
              <a:rect r="r" b="b" t="t" l="l"/>
              <a:pathLst>
                <a:path h="4179189" w="6861428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566408" y="0"/>
                  </a:lnTo>
                  <a:cubicBezTo>
                    <a:pt x="6729349" y="0"/>
                    <a:pt x="6861428" y="132080"/>
                    <a:pt x="6861428" y="295021"/>
                  </a:cubicBezTo>
                  <a:lnTo>
                    <a:pt x="6861428" y="3884168"/>
                  </a:lnTo>
                  <a:cubicBezTo>
                    <a:pt x="6861428" y="4047109"/>
                    <a:pt x="6729349" y="4179189"/>
                    <a:pt x="656640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450343" y="6388103"/>
            <a:ext cx="848363" cy="848363"/>
            <a:chOff x="0" y="0"/>
            <a:chExt cx="1131151" cy="113115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1463040" y="6400800"/>
            <a:ext cx="822960" cy="822960"/>
            <a:chOff x="0" y="0"/>
            <a:chExt cx="1097280" cy="109728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2468880" y="6400800"/>
            <a:ext cx="3474720" cy="822960"/>
            <a:chOff x="0" y="0"/>
            <a:chExt cx="4632960" cy="109728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4632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70" r="0" b="-3227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57150"/>
              <a:ext cx="46329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Correlation</a:t>
              </a:r>
            </a:p>
          </p:txBody>
        </p:sp>
      </p:grpSp>
      <p:sp>
        <p:nvSpPr>
          <p:cNvPr name="TextBox 48" id="48"/>
          <p:cNvSpPr txBox="true"/>
          <p:nvPr/>
        </p:nvSpPr>
        <p:spPr>
          <a:xfrm rot="0">
            <a:off x="1463040" y="7431405"/>
            <a:ext cx="4389120" cy="152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2B2B"/>
                </a:solidFill>
                <a:latin typeface="Calibri (MS)"/>
                <a:ea typeface="Calibri (MS)"/>
                <a:cs typeface="Calibri (MS)"/>
                <a:sym typeface="Calibri (MS)"/>
              </a:rPr>
              <a:t>Correlation matrix and annotated heatmap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570983" y="6022343"/>
            <a:ext cx="5146043" cy="3134363"/>
            <a:chOff x="0" y="0"/>
            <a:chExt cx="6861391" cy="417915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861428" cy="4179189"/>
            </a:xfrm>
            <a:custGeom>
              <a:avLst/>
              <a:gdLst/>
              <a:ahLst/>
              <a:cxnLst/>
              <a:rect r="r" b="b" t="t" l="l"/>
              <a:pathLst>
                <a:path h="4179189" w="6861428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566408" y="0"/>
                  </a:lnTo>
                  <a:cubicBezTo>
                    <a:pt x="6729349" y="0"/>
                    <a:pt x="6861428" y="132080"/>
                    <a:pt x="6861428" y="295021"/>
                  </a:cubicBezTo>
                  <a:lnTo>
                    <a:pt x="6861428" y="3884168"/>
                  </a:lnTo>
                  <a:cubicBezTo>
                    <a:pt x="6861428" y="4047109"/>
                    <a:pt x="6729349" y="4179189"/>
                    <a:pt x="656640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6936743" y="6388103"/>
            <a:ext cx="848363" cy="848363"/>
            <a:chOff x="0" y="0"/>
            <a:chExt cx="1131151" cy="1131151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949440" y="6400800"/>
            <a:ext cx="822960" cy="822960"/>
            <a:chOff x="0" y="0"/>
            <a:chExt cx="1097280" cy="10972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955280" y="6400800"/>
            <a:ext cx="3474720" cy="822960"/>
            <a:chOff x="0" y="0"/>
            <a:chExt cx="463296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632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70" r="0" b="-3227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57150"/>
              <a:ext cx="46329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Rename columns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6949440" y="7431405"/>
            <a:ext cx="4389120" cy="152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2B2B"/>
                </a:solidFill>
                <a:latin typeface="Calibri (MS)"/>
                <a:ea typeface="Calibri (MS)"/>
                <a:cs typeface="Calibri (MS)"/>
                <a:sym typeface="Calibri (MS)"/>
              </a:rPr>
              <a:t>Readable names, e.g. FAVC to frequent_high_calorie_food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12057383" y="6022343"/>
            <a:ext cx="5146043" cy="3134363"/>
            <a:chOff x="0" y="0"/>
            <a:chExt cx="6861391" cy="417915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861428" cy="4179189"/>
            </a:xfrm>
            <a:custGeom>
              <a:avLst/>
              <a:gdLst/>
              <a:ahLst/>
              <a:cxnLst/>
              <a:rect r="r" b="b" t="t" l="l"/>
              <a:pathLst>
                <a:path h="4179189" w="6861428">
                  <a:moveTo>
                    <a:pt x="0" y="295021"/>
                  </a:moveTo>
                  <a:cubicBezTo>
                    <a:pt x="0" y="132080"/>
                    <a:pt x="132080" y="0"/>
                    <a:pt x="295021" y="0"/>
                  </a:cubicBezTo>
                  <a:lnTo>
                    <a:pt x="6566408" y="0"/>
                  </a:lnTo>
                  <a:cubicBezTo>
                    <a:pt x="6729349" y="0"/>
                    <a:pt x="6861428" y="132080"/>
                    <a:pt x="6861428" y="295021"/>
                  </a:cubicBezTo>
                  <a:lnTo>
                    <a:pt x="6861428" y="3884168"/>
                  </a:lnTo>
                  <a:cubicBezTo>
                    <a:pt x="6861428" y="4047109"/>
                    <a:pt x="6729349" y="4179189"/>
                    <a:pt x="6566408" y="4179189"/>
                  </a:cubicBezTo>
                  <a:lnTo>
                    <a:pt x="295021" y="4179189"/>
                  </a:lnTo>
                  <a:cubicBezTo>
                    <a:pt x="132080" y="4179189"/>
                    <a:pt x="0" y="4047109"/>
                    <a:pt x="0" y="3884168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2423143" y="6388103"/>
            <a:ext cx="848363" cy="848363"/>
            <a:chOff x="0" y="0"/>
            <a:chExt cx="1131151" cy="113115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2435840" y="6400800"/>
            <a:ext cx="822960" cy="822960"/>
            <a:chOff x="0" y="0"/>
            <a:chExt cx="1097280" cy="109728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3441680" y="6400800"/>
            <a:ext cx="3474720" cy="822960"/>
            <a:chOff x="0" y="0"/>
            <a:chExt cx="463296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46329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2270" r="0" b="-3227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57150"/>
              <a:ext cx="4632960" cy="1154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Outliers</a:t>
              </a:r>
            </a:p>
          </p:txBody>
        </p:sp>
      </p:grpSp>
      <p:sp>
        <p:nvSpPr>
          <p:cNvPr name="TextBox 70" id="70"/>
          <p:cNvSpPr txBox="true"/>
          <p:nvPr/>
        </p:nvSpPr>
        <p:spPr>
          <a:xfrm rot="0">
            <a:off x="12435840" y="7431405"/>
            <a:ext cx="4389120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2B2B"/>
                </a:solidFill>
                <a:latin typeface="Calibri (MS)"/>
                <a:ea typeface="Calibri (MS)"/>
                <a:cs typeface="Calibri (MS)"/>
                <a:sym typeface="Calibri (MS)"/>
              </a:rPr>
              <a:t>Boxplots, Then removing outliers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F3D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Preprocessing Steps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84583" y="2364743"/>
            <a:ext cx="16118843" cy="1268987"/>
            <a:chOff x="0" y="0"/>
            <a:chExt cx="21491791" cy="169198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491829" cy="1692021"/>
            </a:xfrm>
            <a:custGeom>
              <a:avLst/>
              <a:gdLst/>
              <a:ahLst/>
              <a:cxnLst/>
              <a:rect r="r" b="b" t="t" l="l"/>
              <a:pathLst>
                <a:path h="1692021" w="21491829">
                  <a:moveTo>
                    <a:pt x="0" y="298577"/>
                  </a:moveTo>
                  <a:cubicBezTo>
                    <a:pt x="0" y="133731"/>
                    <a:pt x="133731" y="0"/>
                    <a:pt x="298577" y="0"/>
                  </a:cubicBezTo>
                  <a:lnTo>
                    <a:pt x="21193252" y="0"/>
                  </a:lnTo>
                  <a:cubicBezTo>
                    <a:pt x="21358098" y="0"/>
                    <a:pt x="21491829" y="133731"/>
                    <a:pt x="21491829" y="298577"/>
                  </a:cubicBezTo>
                  <a:lnTo>
                    <a:pt x="21491829" y="1393444"/>
                  </a:lnTo>
                  <a:cubicBezTo>
                    <a:pt x="21491829" y="1558290"/>
                    <a:pt x="21358098" y="1692021"/>
                    <a:pt x="21193252" y="1692021"/>
                  </a:cubicBezTo>
                  <a:lnTo>
                    <a:pt x="298577" y="1692021"/>
                  </a:lnTo>
                  <a:cubicBezTo>
                    <a:pt x="133731" y="1692021"/>
                    <a:pt x="0" y="1558290"/>
                    <a:pt x="0" y="1393444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58903" y="2575055"/>
            <a:ext cx="848363" cy="848363"/>
            <a:chOff x="0" y="0"/>
            <a:chExt cx="1131151" cy="113115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9" id="9"/>
          <p:cNvGrpSpPr/>
          <p:nvPr/>
        </p:nvGrpSpPr>
        <p:grpSpPr>
          <a:xfrm rot="0">
            <a:off x="1371600" y="2587752"/>
            <a:ext cx="822960" cy="822960"/>
            <a:chOff x="0" y="0"/>
            <a:chExt cx="1097280" cy="109728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2560320" y="2377440"/>
            <a:ext cx="4206240" cy="1243584"/>
            <a:chOff x="0" y="0"/>
            <a:chExt cx="5608320" cy="16581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083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05" r="0" b="-15905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5608320" cy="171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Label encoding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766560" y="2377440"/>
            <a:ext cx="10058400" cy="1243584"/>
            <a:chOff x="0" y="0"/>
            <a:chExt cx="13411200" cy="16581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4112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599" r="0" b="-107599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3411200" cy="1724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Target, gender, family history, high-calorie food, smoker, calorie monitoring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084583" y="3791207"/>
            <a:ext cx="16118843" cy="1268987"/>
            <a:chOff x="0" y="0"/>
            <a:chExt cx="21491791" cy="169198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491829" cy="1692021"/>
            </a:xfrm>
            <a:custGeom>
              <a:avLst/>
              <a:gdLst/>
              <a:ahLst/>
              <a:cxnLst/>
              <a:rect r="r" b="b" t="t" l="l"/>
              <a:pathLst>
                <a:path h="1692021" w="21491829">
                  <a:moveTo>
                    <a:pt x="0" y="298577"/>
                  </a:moveTo>
                  <a:cubicBezTo>
                    <a:pt x="0" y="133731"/>
                    <a:pt x="133731" y="0"/>
                    <a:pt x="298577" y="0"/>
                  </a:cubicBezTo>
                  <a:lnTo>
                    <a:pt x="21193252" y="0"/>
                  </a:lnTo>
                  <a:cubicBezTo>
                    <a:pt x="21358098" y="0"/>
                    <a:pt x="21491829" y="133731"/>
                    <a:pt x="21491829" y="298577"/>
                  </a:cubicBezTo>
                  <a:lnTo>
                    <a:pt x="21491829" y="1393444"/>
                  </a:lnTo>
                  <a:cubicBezTo>
                    <a:pt x="21491829" y="1558290"/>
                    <a:pt x="21358098" y="1692021"/>
                    <a:pt x="21193252" y="1692021"/>
                  </a:cubicBezTo>
                  <a:lnTo>
                    <a:pt x="298577" y="1692021"/>
                  </a:lnTo>
                  <a:cubicBezTo>
                    <a:pt x="133731" y="1692021"/>
                    <a:pt x="0" y="1558290"/>
                    <a:pt x="0" y="1393444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358903" y="4001519"/>
            <a:ext cx="848363" cy="848363"/>
            <a:chOff x="0" y="0"/>
            <a:chExt cx="1131151" cy="11311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71600" y="4014216"/>
            <a:ext cx="822960" cy="822960"/>
            <a:chOff x="0" y="0"/>
            <a:chExt cx="1097280" cy="10972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2560320" y="3803904"/>
            <a:ext cx="4206240" cy="1243584"/>
            <a:chOff x="0" y="0"/>
            <a:chExt cx="5608320" cy="165811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083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05" r="0" b="-15905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5608320" cy="171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One-hot encoding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766560" y="3803904"/>
            <a:ext cx="10058400" cy="1243584"/>
            <a:chOff x="0" y="0"/>
            <a:chExt cx="13411200" cy="165811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4112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599" r="0" b="-107599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13411200" cy="1724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Food between meals, alcohol use, transportation type (17 to 27 columns)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84583" y="5217671"/>
            <a:ext cx="16118843" cy="1268987"/>
            <a:chOff x="0" y="0"/>
            <a:chExt cx="21491791" cy="1691983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491829" cy="1692021"/>
            </a:xfrm>
            <a:custGeom>
              <a:avLst/>
              <a:gdLst/>
              <a:ahLst/>
              <a:cxnLst/>
              <a:rect r="r" b="b" t="t" l="l"/>
              <a:pathLst>
                <a:path h="1692021" w="21491829">
                  <a:moveTo>
                    <a:pt x="0" y="298577"/>
                  </a:moveTo>
                  <a:cubicBezTo>
                    <a:pt x="0" y="133731"/>
                    <a:pt x="133731" y="0"/>
                    <a:pt x="298577" y="0"/>
                  </a:cubicBezTo>
                  <a:lnTo>
                    <a:pt x="21193252" y="0"/>
                  </a:lnTo>
                  <a:cubicBezTo>
                    <a:pt x="21358098" y="0"/>
                    <a:pt x="21491829" y="133731"/>
                    <a:pt x="21491829" y="298577"/>
                  </a:cubicBezTo>
                  <a:lnTo>
                    <a:pt x="21491829" y="1393444"/>
                  </a:lnTo>
                  <a:cubicBezTo>
                    <a:pt x="21491829" y="1558290"/>
                    <a:pt x="21358098" y="1692021"/>
                    <a:pt x="21193252" y="1692021"/>
                  </a:cubicBezTo>
                  <a:lnTo>
                    <a:pt x="298577" y="1692021"/>
                  </a:lnTo>
                  <a:cubicBezTo>
                    <a:pt x="133731" y="1692021"/>
                    <a:pt x="0" y="1558290"/>
                    <a:pt x="0" y="1393444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1358903" y="5427983"/>
            <a:ext cx="848363" cy="848363"/>
            <a:chOff x="0" y="0"/>
            <a:chExt cx="1131151" cy="113115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371600" y="5440680"/>
            <a:ext cx="822960" cy="822960"/>
            <a:chOff x="0" y="0"/>
            <a:chExt cx="1097280" cy="109728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560320" y="5230368"/>
            <a:ext cx="4206240" cy="1243584"/>
            <a:chOff x="0" y="0"/>
            <a:chExt cx="5608320" cy="165811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6083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05" r="0" b="-15905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5608320" cy="171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SMOTE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766560" y="5230368"/>
            <a:ext cx="10058400" cy="1243584"/>
            <a:chOff x="0" y="0"/>
            <a:chExt cx="13411200" cy="165811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599" r="0" b="-10759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66675"/>
              <a:ext cx="13411200" cy="1724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Classes of 267 to 351 rows balanced to 351 each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84583" y="6644135"/>
            <a:ext cx="16118843" cy="1268987"/>
            <a:chOff x="0" y="0"/>
            <a:chExt cx="21491791" cy="16919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491829" cy="1692021"/>
            </a:xfrm>
            <a:custGeom>
              <a:avLst/>
              <a:gdLst/>
              <a:ahLst/>
              <a:cxnLst/>
              <a:rect r="r" b="b" t="t" l="l"/>
              <a:pathLst>
                <a:path h="1692021" w="21491829">
                  <a:moveTo>
                    <a:pt x="0" y="298577"/>
                  </a:moveTo>
                  <a:cubicBezTo>
                    <a:pt x="0" y="133731"/>
                    <a:pt x="133731" y="0"/>
                    <a:pt x="298577" y="0"/>
                  </a:cubicBezTo>
                  <a:lnTo>
                    <a:pt x="21193252" y="0"/>
                  </a:lnTo>
                  <a:cubicBezTo>
                    <a:pt x="21358098" y="0"/>
                    <a:pt x="21491829" y="133731"/>
                    <a:pt x="21491829" y="298577"/>
                  </a:cubicBezTo>
                  <a:lnTo>
                    <a:pt x="21491829" y="1393444"/>
                  </a:lnTo>
                  <a:cubicBezTo>
                    <a:pt x="21491829" y="1558290"/>
                    <a:pt x="21358098" y="1692021"/>
                    <a:pt x="21193252" y="1692021"/>
                  </a:cubicBezTo>
                  <a:lnTo>
                    <a:pt x="298577" y="1692021"/>
                  </a:lnTo>
                  <a:cubicBezTo>
                    <a:pt x="133731" y="1692021"/>
                    <a:pt x="0" y="1558290"/>
                    <a:pt x="0" y="1393444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358903" y="6854447"/>
            <a:ext cx="848363" cy="848363"/>
            <a:chOff x="0" y="0"/>
            <a:chExt cx="1131151" cy="11311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371600" y="6867144"/>
            <a:ext cx="822960" cy="822960"/>
            <a:chOff x="0" y="0"/>
            <a:chExt cx="1097280" cy="109728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560320" y="6656832"/>
            <a:ext cx="4206240" cy="1243584"/>
            <a:chOff x="0" y="0"/>
            <a:chExt cx="5608320" cy="165811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56083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05" r="0" b="-15905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57150"/>
              <a:ext cx="5608320" cy="171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selection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766560" y="6656832"/>
            <a:ext cx="10058400" cy="1243584"/>
            <a:chOff x="0" y="0"/>
            <a:chExt cx="13411200" cy="16581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4112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599" r="0" b="-10759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66675"/>
              <a:ext cx="13411200" cy="1724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SelectKBest with ANOVA F-score, k = 22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084583" y="8070599"/>
            <a:ext cx="16118843" cy="1268987"/>
            <a:chOff x="0" y="0"/>
            <a:chExt cx="21491791" cy="1691983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1491829" cy="1692021"/>
            </a:xfrm>
            <a:custGeom>
              <a:avLst/>
              <a:gdLst/>
              <a:ahLst/>
              <a:cxnLst/>
              <a:rect r="r" b="b" t="t" l="l"/>
              <a:pathLst>
                <a:path h="1692021" w="21491829">
                  <a:moveTo>
                    <a:pt x="0" y="298577"/>
                  </a:moveTo>
                  <a:cubicBezTo>
                    <a:pt x="0" y="133731"/>
                    <a:pt x="133731" y="0"/>
                    <a:pt x="298577" y="0"/>
                  </a:cubicBezTo>
                  <a:lnTo>
                    <a:pt x="21193252" y="0"/>
                  </a:lnTo>
                  <a:cubicBezTo>
                    <a:pt x="21358098" y="0"/>
                    <a:pt x="21491829" y="133731"/>
                    <a:pt x="21491829" y="298577"/>
                  </a:cubicBezTo>
                  <a:lnTo>
                    <a:pt x="21491829" y="1393444"/>
                  </a:lnTo>
                  <a:cubicBezTo>
                    <a:pt x="21491829" y="1558290"/>
                    <a:pt x="21358098" y="1692021"/>
                    <a:pt x="21193252" y="1692021"/>
                  </a:cubicBezTo>
                  <a:lnTo>
                    <a:pt x="298577" y="1692021"/>
                  </a:lnTo>
                  <a:cubicBezTo>
                    <a:pt x="133731" y="1692021"/>
                    <a:pt x="0" y="1558290"/>
                    <a:pt x="0" y="1393444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358903" y="8280911"/>
            <a:ext cx="848363" cy="848363"/>
            <a:chOff x="0" y="0"/>
            <a:chExt cx="1131151" cy="11311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1371600" y="8293608"/>
            <a:ext cx="822960" cy="822960"/>
            <a:chOff x="0" y="0"/>
            <a:chExt cx="1097280" cy="10972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2560320" y="8083296"/>
            <a:ext cx="4206240" cy="1243584"/>
            <a:chOff x="0" y="0"/>
            <a:chExt cx="5608320" cy="165811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5608320" cy="1658112"/>
            </a:xfrm>
            <a:custGeom>
              <a:avLst/>
              <a:gdLst/>
              <a:ahLst/>
              <a:cxnLst/>
              <a:rect r="r" b="b" t="t" l="l"/>
              <a:pathLst>
                <a:path h="1658112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905" r="0" b="-1590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5608320" cy="17152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Scaling and split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6766560" y="8083296"/>
            <a:ext cx="10058400" cy="1243584"/>
            <a:chOff x="0" y="0"/>
            <a:chExt cx="13411200" cy="1658112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3411200" cy="1658112"/>
            </a:xfrm>
            <a:custGeom>
              <a:avLst/>
              <a:gdLst/>
              <a:ahLst/>
              <a:cxnLst/>
              <a:rect r="r" b="b" t="t" l="l"/>
              <a:pathLst>
                <a:path h="1658112" w="13411200">
                  <a:moveTo>
                    <a:pt x="0" y="0"/>
                  </a:moveTo>
                  <a:lnTo>
                    <a:pt x="13411200" y="0"/>
                  </a:lnTo>
                  <a:lnTo>
                    <a:pt x="13411200" y="1658112"/>
                  </a:lnTo>
                  <a:lnTo>
                    <a:pt x="0" y="165811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599" r="0" b="-107599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66675"/>
              <a:ext cx="13411200" cy="17247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StandardScaler, then 80/20 train-test split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1397" y="505511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F3D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Rows and Columns: Before vs After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974255" y="2413055"/>
            <a:ext cx="3774443" cy="5694683"/>
            <a:chOff x="0" y="0"/>
            <a:chExt cx="5032591" cy="75929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32629" cy="7592949"/>
            </a:xfrm>
            <a:custGeom>
              <a:avLst/>
              <a:gdLst/>
              <a:ahLst/>
              <a:cxnLst/>
              <a:rect r="r" b="b" t="t" l="l"/>
              <a:pathLst>
                <a:path h="7592949" w="5032629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4737989" y="0"/>
                  </a:lnTo>
                  <a:cubicBezTo>
                    <a:pt x="4900676" y="0"/>
                    <a:pt x="5032629" y="131953"/>
                    <a:pt x="5032629" y="294640"/>
                  </a:cubicBezTo>
                  <a:lnTo>
                    <a:pt x="5032629" y="7298309"/>
                  </a:lnTo>
                  <a:cubicBezTo>
                    <a:pt x="5032629" y="7460996"/>
                    <a:pt x="4900676" y="7592949"/>
                    <a:pt x="4737989" y="7592949"/>
                  </a:cubicBezTo>
                  <a:lnTo>
                    <a:pt x="294640" y="7592949"/>
                  </a:lnTo>
                  <a:cubicBezTo>
                    <a:pt x="131953" y="7592949"/>
                    <a:pt x="0" y="7460996"/>
                    <a:pt x="0" y="7298309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4352712" y="2633396"/>
            <a:ext cx="310896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F6F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Before EDA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352712" y="4071671"/>
            <a:ext cx="3108960" cy="1828800"/>
            <a:chOff x="0" y="0"/>
            <a:chExt cx="4145280" cy="2438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145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414528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F3D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2,111 x 17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4408595" y="6151245"/>
            <a:ext cx="3108960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2B2B"/>
                </a:solidFill>
                <a:latin typeface="Calibri (MS)"/>
                <a:ea typeface="Calibri (MS)"/>
                <a:cs typeface="Calibri (MS)"/>
                <a:sym typeface="Calibri (MS)"/>
              </a:rPr>
              <a:t>Raw dataset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69089" y="2413055"/>
            <a:ext cx="3774443" cy="5694683"/>
            <a:chOff x="0" y="0"/>
            <a:chExt cx="5032591" cy="759291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32629" cy="7592949"/>
            </a:xfrm>
            <a:custGeom>
              <a:avLst/>
              <a:gdLst/>
              <a:ahLst/>
              <a:cxnLst/>
              <a:rect r="r" b="b" t="t" l="l"/>
              <a:pathLst>
                <a:path h="7592949" w="5032629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4737989" y="0"/>
                  </a:lnTo>
                  <a:cubicBezTo>
                    <a:pt x="4900676" y="0"/>
                    <a:pt x="5032629" y="131953"/>
                    <a:pt x="5032629" y="294640"/>
                  </a:cubicBezTo>
                  <a:lnTo>
                    <a:pt x="5032629" y="7298309"/>
                  </a:lnTo>
                  <a:cubicBezTo>
                    <a:pt x="5032629" y="7460996"/>
                    <a:pt x="4900676" y="7592949"/>
                    <a:pt x="4737989" y="7592949"/>
                  </a:cubicBezTo>
                  <a:lnTo>
                    <a:pt x="294640" y="7592949"/>
                  </a:lnTo>
                  <a:cubicBezTo>
                    <a:pt x="131953" y="7592949"/>
                    <a:pt x="0" y="7460996"/>
                    <a:pt x="0" y="7298309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10347546" y="2633396"/>
            <a:ext cx="310896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 b="true">
                <a:solidFill>
                  <a:srgbClr val="1F6F6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After removing duplicates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347546" y="4071671"/>
            <a:ext cx="3108960" cy="1828800"/>
            <a:chOff x="0" y="0"/>
            <a:chExt cx="4145280" cy="2438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452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4145280">
                  <a:moveTo>
                    <a:pt x="0" y="0"/>
                  </a:moveTo>
                  <a:lnTo>
                    <a:pt x="4145280" y="0"/>
                  </a:lnTo>
                  <a:lnTo>
                    <a:pt x="41452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472" t="0" r="-25472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4145280" cy="24479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0F3D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2,087 x 17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347546" y="6016676"/>
            <a:ext cx="3108960" cy="1712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2B2B"/>
                </a:solidFill>
                <a:latin typeface="Calibri (MS)"/>
                <a:ea typeface="Calibri (MS)"/>
                <a:cs typeface="Calibri (MS)"/>
                <a:sym typeface="Calibri (MS)"/>
              </a:rPr>
              <a:t>24 duplicate rows removed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F3D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Algorithms Used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84583" y="2547623"/>
            <a:ext cx="5877563" cy="2037083"/>
            <a:chOff x="0" y="0"/>
            <a:chExt cx="7836751" cy="271611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36789" cy="2716149"/>
            </a:xfrm>
            <a:custGeom>
              <a:avLst/>
              <a:gdLst/>
              <a:ahLst/>
              <a:cxnLst/>
              <a:rect r="r" b="b" t="t" l="l"/>
              <a:pathLst>
                <a:path h="2716149" w="7836789">
                  <a:moveTo>
                    <a:pt x="0" y="296291"/>
                  </a:moveTo>
                  <a:cubicBezTo>
                    <a:pt x="0" y="132715"/>
                    <a:pt x="132715" y="0"/>
                    <a:pt x="296291" y="0"/>
                  </a:cubicBezTo>
                  <a:lnTo>
                    <a:pt x="7540498" y="0"/>
                  </a:lnTo>
                  <a:cubicBezTo>
                    <a:pt x="7704201" y="0"/>
                    <a:pt x="7836789" y="132715"/>
                    <a:pt x="7836789" y="296291"/>
                  </a:cubicBezTo>
                  <a:lnTo>
                    <a:pt x="7836789" y="2419858"/>
                  </a:lnTo>
                  <a:cubicBezTo>
                    <a:pt x="7836789" y="2583561"/>
                    <a:pt x="7704074" y="2716149"/>
                    <a:pt x="7540498" y="2716149"/>
                  </a:cubicBezTo>
                  <a:lnTo>
                    <a:pt x="296291" y="2716149"/>
                  </a:lnTo>
                  <a:cubicBezTo>
                    <a:pt x="132715" y="2716149"/>
                    <a:pt x="0" y="2583434"/>
                    <a:pt x="0" y="2419858"/>
                  </a:cubicBezTo>
                  <a:close/>
                </a:path>
              </a:pathLst>
            </a:custGeom>
            <a:solidFill>
              <a:srgbClr val="0F3D3E"/>
            </a:solidFill>
            <a:ln w="25400" cap="sq">
              <a:solidFill>
                <a:srgbClr val="0F3D3E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463040" y="2560320"/>
            <a:ext cx="2377440" cy="2011680"/>
            <a:chOff x="0" y="0"/>
            <a:chExt cx="3169920" cy="268224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699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564" t="0" r="-5856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316992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29E4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1,965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840480" y="2560320"/>
            <a:ext cx="2926080" cy="2011680"/>
            <a:chOff x="0" y="0"/>
            <a:chExt cx="3901440" cy="26822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9014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8208" t="0" r="-38208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390144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training rows (80%)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84583" y="4925063"/>
            <a:ext cx="5877563" cy="2037083"/>
            <a:chOff x="0" y="0"/>
            <a:chExt cx="7836751" cy="271611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836789" cy="2716149"/>
            </a:xfrm>
            <a:custGeom>
              <a:avLst/>
              <a:gdLst/>
              <a:ahLst/>
              <a:cxnLst/>
              <a:rect r="r" b="b" t="t" l="l"/>
              <a:pathLst>
                <a:path h="2716149" w="7836789">
                  <a:moveTo>
                    <a:pt x="0" y="296291"/>
                  </a:moveTo>
                  <a:cubicBezTo>
                    <a:pt x="0" y="132715"/>
                    <a:pt x="132715" y="0"/>
                    <a:pt x="296291" y="0"/>
                  </a:cubicBezTo>
                  <a:lnTo>
                    <a:pt x="7540498" y="0"/>
                  </a:lnTo>
                  <a:cubicBezTo>
                    <a:pt x="7704201" y="0"/>
                    <a:pt x="7836789" y="132715"/>
                    <a:pt x="7836789" y="296291"/>
                  </a:cubicBezTo>
                  <a:lnTo>
                    <a:pt x="7836789" y="2419858"/>
                  </a:lnTo>
                  <a:cubicBezTo>
                    <a:pt x="7836789" y="2583561"/>
                    <a:pt x="7704074" y="2716149"/>
                    <a:pt x="7540498" y="2716149"/>
                  </a:cubicBezTo>
                  <a:lnTo>
                    <a:pt x="296291" y="2716149"/>
                  </a:lnTo>
                  <a:cubicBezTo>
                    <a:pt x="132715" y="2716149"/>
                    <a:pt x="0" y="2583434"/>
                    <a:pt x="0" y="2419858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463040" y="4937760"/>
            <a:ext cx="2377440" cy="2011680"/>
            <a:chOff x="0" y="0"/>
            <a:chExt cx="3169920" cy="26822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6992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8564" t="0" r="-58564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3169920" cy="2691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1F6F6B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492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3840480" y="4937760"/>
            <a:ext cx="2926080" cy="2011680"/>
            <a:chOff x="0" y="0"/>
            <a:chExt cx="3901440" cy="26822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901440" cy="2682240"/>
            </a:xfrm>
            <a:custGeom>
              <a:avLst/>
              <a:gdLst/>
              <a:ahLst/>
              <a:cxnLst/>
              <a:rect r="r" b="b" t="t" l="l"/>
              <a:pathLst>
                <a:path h="268224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2682240"/>
                  </a:lnTo>
                  <a:lnTo>
                    <a:pt x="0" y="26822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8208" t="0" r="-38208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3901440" cy="27489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1B2B2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 rows (20%)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097280" y="7431405"/>
            <a:ext cx="5852160" cy="1163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5C6F6F"/>
                </a:solidFill>
                <a:latin typeface="Calibri (MS)"/>
                <a:ea typeface="Calibri (MS)"/>
                <a:cs typeface="Calibri (MS)"/>
                <a:sym typeface="Calibri (MS)"/>
              </a:rPr>
              <a:t>22 selected features, standardized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7668263" y="2547623"/>
            <a:ext cx="9535163" cy="1122683"/>
            <a:chOff x="0" y="0"/>
            <a:chExt cx="12713551" cy="149691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7134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2713462">
                  <a:moveTo>
                    <a:pt x="0" y="299339"/>
                  </a:moveTo>
                  <a:cubicBezTo>
                    <a:pt x="0" y="133985"/>
                    <a:pt x="133985" y="0"/>
                    <a:pt x="299339" y="0"/>
                  </a:cubicBezTo>
                  <a:lnTo>
                    <a:pt x="12414123" y="0"/>
                  </a:lnTo>
                  <a:cubicBezTo>
                    <a:pt x="12579477" y="0"/>
                    <a:pt x="12713462" y="133985"/>
                    <a:pt x="12713462" y="299339"/>
                  </a:cubicBezTo>
                  <a:lnTo>
                    <a:pt x="12713462" y="1197483"/>
                  </a:lnTo>
                  <a:cubicBezTo>
                    <a:pt x="12713462" y="1362837"/>
                    <a:pt x="12579477" y="1496822"/>
                    <a:pt x="12414123" y="1496822"/>
                  </a:cubicBezTo>
                  <a:lnTo>
                    <a:pt x="299339" y="1496822"/>
                  </a:lnTo>
                  <a:cubicBezTo>
                    <a:pt x="133985" y="1496949"/>
                    <a:pt x="0" y="1362837"/>
                    <a:pt x="0" y="1197483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7942583" y="2684783"/>
            <a:ext cx="848363" cy="848363"/>
            <a:chOff x="0" y="0"/>
            <a:chExt cx="1131151" cy="11311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7955280" y="2697480"/>
            <a:ext cx="822960" cy="822960"/>
            <a:chOff x="0" y="0"/>
            <a:chExt cx="1097280" cy="10972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144000" y="2560320"/>
            <a:ext cx="7863840" cy="1097280"/>
            <a:chOff x="0" y="0"/>
            <a:chExt cx="1048512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48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1048512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Logistic Regression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668263" y="3864359"/>
            <a:ext cx="9535163" cy="1122683"/>
            <a:chOff x="0" y="0"/>
            <a:chExt cx="12713551" cy="14969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7134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2713462">
                  <a:moveTo>
                    <a:pt x="0" y="299339"/>
                  </a:moveTo>
                  <a:cubicBezTo>
                    <a:pt x="0" y="133985"/>
                    <a:pt x="133985" y="0"/>
                    <a:pt x="299339" y="0"/>
                  </a:cubicBezTo>
                  <a:lnTo>
                    <a:pt x="12414123" y="0"/>
                  </a:lnTo>
                  <a:cubicBezTo>
                    <a:pt x="12579477" y="0"/>
                    <a:pt x="12713462" y="133985"/>
                    <a:pt x="12713462" y="299339"/>
                  </a:cubicBezTo>
                  <a:lnTo>
                    <a:pt x="12713462" y="1197483"/>
                  </a:lnTo>
                  <a:cubicBezTo>
                    <a:pt x="12713462" y="1362837"/>
                    <a:pt x="12579477" y="1496822"/>
                    <a:pt x="12414123" y="1496822"/>
                  </a:cubicBezTo>
                  <a:lnTo>
                    <a:pt x="299339" y="1496822"/>
                  </a:lnTo>
                  <a:cubicBezTo>
                    <a:pt x="133985" y="1496949"/>
                    <a:pt x="0" y="1362837"/>
                    <a:pt x="0" y="1197483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7942583" y="4001519"/>
            <a:ext cx="848363" cy="848363"/>
            <a:chOff x="0" y="0"/>
            <a:chExt cx="1131151" cy="11311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7955280" y="4014216"/>
            <a:ext cx="822960" cy="822960"/>
            <a:chOff x="0" y="0"/>
            <a:chExt cx="1097280" cy="109728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9144000" y="3877056"/>
            <a:ext cx="7863840" cy="1097280"/>
            <a:chOff x="0" y="0"/>
            <a:chExt cx="10485120" cy="14630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48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1048512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Decision Tree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7668263" y="5181095"/>
            <a:ext cx="9535163" cy="1122683"/>
            <a:chOff x="0" y="0"/>
            <a:chExt cx="12713551" cy="149691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27134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2713462">
                  <a:moveTo>
                    <a:pt x="0" y="299339"/>
                  </a:moveTo>
                  <a:cubicBezTo>
                    <a:pt x="0" y="133985"/>
                    <a:pt x="133985" y="0"/>
                    <a:pt x="299339" y="0"/>
                  </a:cubicBezTo>
                  <a:lnTo>
                    <a:pt x="12414123" y="0"/>
                  </a:lnTo>
                  <a:cubicBezTo>
                    <a:pt x="12579477" y="0"/>
                    <a:pt x="12713462" y="133985"/>
                    <a:pt x="12713462" y="299339"/>
                  </a:cubicBezTo>
                  <a:lnTo>
                    <a:pt x="12713462" y="1197483"/>
                  </a:lnTo>
                  <a:cubicBezTo>
                    <a:pt x="12713462" y="1362837"/>
                    <a:pt x="12579477" y="1496822"/>
                    <a:pt x="12414123" y="1496822"/>
                  </a:cubicBezTo>
                  <a:lnTo>
                    <a:pt x="299339" y="1496822"/>
                  </a:lnTo>
                  <a:cubicBezTo>
                    <a:pt x="133985" y="1496949"/>
                    <a:pt x="0" y="1362837"/>
                    <a:pt x="0" y="1197483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7942583" y="5318255"/>
            <a:ext cx="848363" cy="848363"/>
            <a:chOff x="0" y="0"/>
            <a:chExt cx="1131151" cy="113115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7955280" y="5330952"/>
            <a:ext cx="822960" cy="822960"/>
            <a:chOff x="0" y="0"/>
            <a:chExt cx="1097280" cy="109728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144000" y="5193792"/>
            <a:ext cx="7863840" cy="1097280"/>
            <a:chOff x="0" y="0"/>
            <a:chExt cx="10485120" cy="14630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48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1048512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668263" y="6497831"/>
            <a:ext cx="9535163" cy="1122683"/>
            <a:chOff x="0" y="0"/>
            <a:chExt cx="12713551" cy="149691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7134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2713462">
                  <a:moveTo>
                    <a:pt x="0" y="299339"/>
                  </a:moveTo>
                  <a:cubicBezTo>
                    <a:pt x="0" y="133985"/>
                    <a:pt x="133985" y="0"/>
                    <a:pt x="299339" y="0"/>
                  </a:cubicBezTo>
                  <a:lnTo>
                    <a:pt x="12414123" y="0"/>
                  </a:lnTo>
                  <a:cubicBezTo>
                    <a:pt x="12579477" y="0"/>
                    <a:pt x="12713462" y="133985"/>
                    <a:pt x="12713462" y="299339"/>
                  </a:cubicBezTo>
                  <a:lnTo>
                    <a:pt x="12713462" y="1197483"/>
                  </a:lnTo>
                  <a:cubicBezTo>
                    <a:pt x="12713462" y="1362837"/>
                    <a:pt x="12579477" y="1496822"/>
                    <a:pt x="12414123" y="1496822"/>
                  </a:cubicBezTo>
                  <a:lnTo>
                    <a:pt x="299339" y="1496822"/>
                  </a:lnTo>
                  <a:cubicBezTo>
                    <a:pt x="133985" y="1496949"/>
                    <a:pt x="0" y="1362837"/>
                    <a:pt x="0" y="1197483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7942583" y="6634991"/>
            <a:ext cx="848363" cy="848363"/>
            <a:chOff x="0" y="0"/>
            <a:chExt cx="1131151" cy="113115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7955280" y="6647688"/>
            <a:ext cx="822960" cy="822960"/>
            <a:chOff x="0" y="0"/>
            <a:chExt cx="1097280" cy="109728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144000" y="6510528"/>
            <a:ext cx="7863840" cy="1097280"/>
            <a:chOff x="0" y="0"/>
            <a:chExt cx="10485120" cy="14630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48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57150"/>
              <a:ext cx="1048512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AdaBoost 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668263" y="7814567"/>
            <a:ext cx="9535163" cy="1122683"/>
            <a:chOff x="0" y="0"/>
            <a:chExt cx="12713551" cy="149691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2713462" cy="1496822"/>
            </a:xfrm>
            <a:custGeom>
              <a:avLst/>
              <a:gdLst/>
              <a:ahLst/>
              <a:cxnLst/>
              <a:rect r="r" b="b" t="t" l="l"/>
              <a:pathLst>
                <a:path h="1496822" w="12713462">
                  <a:moveTo>
                    <a:pt x="0" y="299339"/>
                  </a:moveTo>
                  <a:cubicBezTo>
                    <a:pt x="0" y="133985"/>
                    <a:pt x="133985" y="0"/>
                    <a:pt x="299339" y="0"/>
                  </a:cubicBezTo>
                  <a:lnTo>
                    <a:pt x="12414123" y="0"/>
                  </a:lnTo>
                  <a:cubicBezTo>
                    <a:pt x="12579477" y="0"/>
                    <a:pt x="12713462" y="133985"/>
                    <a:pt x="12713462" y="299339"/>
                  </a:cubicBezTo>
                  <a:lnTo>
                    <a:pt x="12713462" y="1197483"/>
                  </a:lnTo>
                  <a:cubicBezTo>
                    <a:pt x="12713462" y="1362837"/>
                    <a:pt x="12579477" y="1496822"/>
                    <a:pt x="12414123" y="1496822"/>
                  </a:cubicBezTo>
                  <a:lnTo>
                    <a:pt x="299339" y="1496822"/>
                  </a:lnTo>
                  <a:cubicBezTo>
                    <a:pt x="133985" y="1496949"/>
                    <a:pt x="0" y="1362837"/>
                    <a:pt x="0" y="1197483"/>
                  </a:cubicBezTo>
                  <a:close/>
                </a:path>
              </a:pathLst>
            </a:custGeom>
            <a:solidFill>
              <a:srgbClr val="EAF3F2"/>
            </a:solidFill>
            <a:ln w="25400" cap="sq">
              <a:solidFill>
                <a:srgbClr val="EAF3F2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7942583" y="7951727"/>
            <a:ext cx="848363" cy="848363"/>
            <a:chOff x="0" y="0"/>
            <a:chExt cx="1131151" cy="113115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31189" cy="1131189"/>
            </a:xfrm>
            <a:custGeom>
              <a:avLst/>
              <a:gdLst/>
              <a:ahLst/>
              <a:cxnLst/>
              <a:rect r="r" b="b" t="t" l="l"/>
              <a:pathLst>
                <a:path h="1131189" w="1131189">
                  <a:moveTo>
                    <a:pt x="0" y="565531"/>
                  </a:moveTo>
                  <a:cubicBezTo>
                    <a:pt x="0" y="253238"/>
                    <a:pt x="253238" y="0"/>
                    <a:pt x="565531" y="0"/>
                  </a:cubicBezTo>
                  <a:cubicBezTo>
                    <a:pt x="877824" y="0"/>
                    <a:pt x="1131189" y="253238"/>
                    <a:pt x="1131189" y="565531"/>
                  </a:cubicBezTo>
                  <a:cubicBezTo>
                    <a:pt x="1131189" y="877824"/>
                    <a:pt x="877951" y="1131189"/>
                    <a:pt x="565531" y="1131189"/>
                  </a:cubicBezTo>
                  <a:cubicBezTo>
                    <a:pt x="253111" y="1131189"/>
                    <a:pt x="0" y="877951"/>
                    <a:pt x="0" y="565531"/>
                  </a:cubicBezTo>
                  <a:close/>
                </a:path>
              </a:pathLst>
            </a:custGeom>
            <a:solidFill>
              <a:srgbClr val="F29E4C"/>
            </a:solidFill>
            <a:ln w="25400" cap="sq">
              <a:solidFill>
                <a:srgbClr val="F29E4C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7955280" y="7964424"/>
            <a:ext cx="822960" cy="822960"/>
            <a:chOff x="0" y="0"/>
            <a:chExt cx="1097280" cy="10972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66675"/>
              <a:ext cx="109728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9144000" y="7827264"/>
            <a:ext cx="7863840" cy="1097280"/>
            <a:chOff x="0" y="0"/>
            <a:chExt cx="10485120" cy="14630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04851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9642" r="0" b="-89642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10485120" cy="15201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Gradient Boosting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97280" y="640080"/>
            <a:ext cx="16093440" cy="1280160"/>
            <a:chOff x="0" y="0"/>
            <a:chExt cx="21457920" cy="17068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457920" cy="1706880"/>
            </a:xfrm>
            <a:custGeom>
              <a:avLst/>
              <a:gdLst/>
              <a:ahLst/>
              <a:cxnLst/>
              <a:rect r="r" b="b" t="t" l="l"/>
              <a:pathLst>
                <a:path h="170688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1706880"/>
                  </a:lnTo>
                  <a:lnTo>
                    <a:pt x="0" y="17068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4954" r="0" b="-19495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457920" cy="17164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F3D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Evaluation Metrics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97280" y="2377440"/>
          <a:ext cx="16002000" cy="5486400"/>
        </p:xfrm>
        <a:graphic>
          <a:graphicData uri="http://schemas.openxmlformats.org/drawingml/2006/table">
            <a:tbl>
              <a:tblPr/>
              <a:tblGrid>
                <a:gridCol w="5798407"/>
                <a:gridCol w="2550898"/>
                <a:gridCol w="2550898"/>
                <a:gridCol w="2550898"/>
                <a:gridCol w="2550898"/>
              </a:tblGrid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Precision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F1-score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Recall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Logistic Regression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0.89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0.88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Decision Tree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0.96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AdaBoost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0.45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>
                          <a:solidFill>
                            <a:srgbClr val="1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0.50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2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Gradient Boosting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0.98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0.98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0.98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799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0.98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C9DA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-1109311"/>
            <a:ext cx="4819590" cy="4984479"/>
            <a:chOff x="0" y="0"/>
            <a:chExt cx="6426120" cy="66459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426119" cy="6645971"/>
            </a:xfrm>
            <a:custGeom>
              <a:avLst/>
              <a:gdLst/>
              <a:ahLst/>
              <a:cxnLst/>
              <a:rect r="r" b="b" t="t" l="l"/>
              <a:pathLst>
                <a:path h="6645971" w="6426119">
                  <a:moveTo>
                    <a:pt x="0" y="0"/>
                  </a:moveTo>
                  <a:lnTo>
                    <a:pt x="6426119" y="0"/>
                  </a:lnTo>
                  <a:lnTo>
                    <a:pt x="6426119" y="6645971"/>
                  </a:lnTo>
                  <a:lnTo>
                    <a:pt x="0" y="664597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0070" r="-233917" b="242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6426120" cy="66554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160"/>
                </a:lnSpc>
              </a:pPr>
              <a:r>
                <a:rPr lang="en-US" sz="6800" b="true">
                  <a:solidFill>
                    <a:srgbClr val="0F3D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Conclusion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2543285"/>
            <a:ext cx="12789036" cy="904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1B2B2B"/>
                </a:solidFill>
                <a:latin typeface="Calibri (MS)"/>
                <a:ea typeface="Calibri (MS)"/>
                <a:cs typeface="Calibri (MS)"/>
                <a:sym typeface="Calibri (MS)"/>
              </a:rPr>
              <a:t>Gradient Boosting performed best (0.98 on all four metrics). AdaBoost performed worst (0.50 accuracy).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90438" y="480603"/>
            <a:ext cx="8707124" cy="9687808"/>
            <a:chOff x="0" y="0"/>
            <a:chExt cx="11609499" cy="1291707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609499" cy="12917076"/>
            </a:xfrm>
            <a:custGeom>
              <a:avLst/>
              <a:gdLst/>
              <a:ahLst/>
              <a:cxnLst/>
              <a:rect r="r" b="b" t="t" l="l"/>
              <a:pathLst>
                <a:path h="12917076" w="11609499">
                  <a:moveTo>
                    <a:pt x="0" y="0"/>
                  </a:moveTo>
                  <a:lnTo>
                    <a:pt x="11609499" y="0"/>
                  </a:lnTo>
                  <a:lnTo>
                    <a:pt x="11609499" y="12917076"/>
                  </a:lnTo>
                  <a:lnTo>
                    <a:pt x="0" y="129170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61" r="-84830" b="6102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1609499" cy="129266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38"/>
                </a:lnSpc>
              </a:pPr>
              <a:r>
                <a:rPr lang="en-US" sz="13198" b="true">
                  <a:solidFill>
                    <a:srgbClr val="0F3D3E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Thank You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DAHXUNYDYLQ</dc:identifier>
  <dcterms:modified xsi:type="dcterms:W3CDTF">2011-08-01T06:04:30Z</dcterms:modified>
  <cp:revision>1</cp:revision>
  <dc:title>Random Forest</dc:title>
</cp:coreProperties>
</file>